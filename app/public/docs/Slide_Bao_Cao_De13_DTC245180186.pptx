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TRƯỜNG ĐẠI HỌC CÔNG NGHỆ THÔNG TIN VÀ TRUYỀN THÔNG (ICTU)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HỌC PHẦN: TRIỂN KHAI VÀ QUẢN TRỊ HỆ THỐNG PHẦN MỀM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ĐỀ TÀI SỐ 13: XÂY DỰNG VÀ QUẢN TRỊ TOÀN DIỆN</a:t>
            </a:r>
          </a:p>
          <a:p>
            <a:pPr>
              <a:spcAft>
                <a:spcPts val="14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HỆ THỐNG WEBSITE PORTFOLIO CÁ NHÂN</a:t>
            </a:r>
          </a:p>
          <a:p>
            <a:pPr>
              <a:spcAft>
                <a:spcPts val="36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Kiến trúc Docker Compose Microservices • Nginx SSL/TLS Reverse Proxy • Giám sát Prometheus + Grafana • Quản lý Log Loki + Promtail • Hardening 9 Lớp Chuẩn CIS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Sinh viên thực hiện: Vũ Bá Hùng       |   Mã số sinh viên: DTC245180186</a:t>
            </a:r>
          </a:p>
          <a:p>
            <a:pPr>
              <a:defRPr sz="1200">
                <a:solidFill>
                  <a:srgbClr val="06B6D4"/>
                </a:solidFill>
                <a:latin typeface="Arial"/>
              </a:defRPr>
            </a:pPr>
            <a:r>
              <a:t>Khoa: Công nghệ Thông tin              |   GitHub: https://github.com/vubahung222/portfolio-de13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CHƯƠNG 1: TỔNG QUAN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Tổng quan Đề tài &amp; Mục tiêu Triển khai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A365D"/>
                </a:solidFill>
              </a:defRPr>
            </a:pPr>
            <a:r>
              <a:t>🌐 ỨNG DỤNG WEB &amp; CSDL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Website Portfolio cá nhân thiết kế hiện đại, White SaaS UI sang trọng.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Trang Admin Dashboard bảo mật: xác thực Bcrypt cost=12, CSRF token.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Quản lý Dự án, Kỹ năng, Thông tin cá nhân, Đổi mật khẩu, Hộp thư liên hệ.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Cơ sở dữ liệu MySQL 8.0 chuẩn hóa 3NF, đi kèm phpMyAdmin trực quan.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63EB"/>
                </a:solidFill>
              </a:defRPr>
            </a:pPr>
            <a:r>
              <a:t>🛡️ PROXY &amp; GIÁM SÁT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Nginx Reverse Proxy với HTTPS TLS 1.2/1.3 tự ký, auto-redirect HTTP 80 -&gt; 443.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7 Security Headers OWASP bảo vệ ứng dụng (HSTS, CSP, X-Frame-Options...).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Prometheus Server thu thập số liệu tự động từ 5 Exporters chuyên dụng.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Grafana Dashboard 13 Panels hiển thị trực quan tài nguyên container, host, 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🔒 LOGGING &amp; HARDENING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Hệ thống log tập trung Grafana Loki + Promtail đọc trực tiếp Docker Socket.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10 câu truy vấn LogQL từ cơ bản đến phân tích lỗi HTTP 5xx, SQL injection.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9 biện pháp Hardening toàn diện: Non-root UID 1000, Mạng backend internal, no-new-privileges.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Quản lý GitHub chuẩn 3 commits phân tầng, Test Suite 10/10 Passed.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CHƯƠNG 2: THIẾT KẾ KIẾN TRÚC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Kiến trúc Phân tầng Hệ thống &amp; Cô lập Mạng (Isolation)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6174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645920"/>
            <a:ext cx="347472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A365D"/>
                </a:solidFill>
              </a:defRPr>
            </a:pPr>
            <a:r>
              <a:t>ĐIỂM NỔI BẬT KIẾN TRÚC</a:t>
            </a:r>
          </a:p>
          <a:p>
            <a:pPr>
              <a:defRPr sz="1050" b="1">
                <a:solidFill>
                  <a:srgbClr val="2563EB"/>
                </a:solidFill>
              </a:defRPr>
            </a:pPr>
            <a:r>
              <a:t>▸ Mô hình 2 Vùng mạng: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Tách bạch mạng frontend (public bridge) và backend (internal: true hoàn toàn không có gateway Internet).</a:t>
            </a:r>
          </a:p>
          <a:p>
            <a:pPr>
              <a:defRPr sz="1050" b="1">
                <a:solidFill>
                  <a:srgbClr val="2563EB"/>
                </a:solidFill>
              </a:defRPr>
            </a:pPr>
            <a:r>
              <a:t>▸ Single Point of Ingress: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Mọi truy cập bên ngoài đều phải đi qua Nginx Reverse Proxy (Cổng 443 HTTPS).</a:t>
            </a:r>
          </a:p>
          <a:p>
            <a:pPr>
              <a:defRPr sz="1050" b="1">
                <a:solidFill>
                  <a:srgbClr val="2563EB"/>
                </a:solidFill>
              </a:defRPr>
            </a:pPr>
            <a:r>
              <a:t>▸ Bảo vệ CSDL tuyệt đối: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MySQL chỉ lắng nghe cổng nội bộ 3306 trên mạng backend, ngăn chặn triệt để tấn công từ Internet.</a:t>
            </a:r>
          </a:p>
          <a:p>
            <a:pPr>
              <a:defRPr sz="1050" b="1">
                <a:solidFill>
                  <a:srgbClr val="2563EB"/>
                </a:solidFill>
              </a:defRPr>
            </a:pPr>
            <a:r>
              <a:t>▸ Pipeline Giám sát Độc lập: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Prometheus và Loki giao tiếp nội bộ trong mạng backend, không lộ thông tin giám sát ra bên ngoài.</a:t>
            </a:r>
          </a:p>
          <a:p>
            <a:pPr>
              <a:defRPr sz="1050" b="1">
                <a:solidFill>
                  <a:srgbClr val="2563EB"/>
                </a:solidFill>
              </a:defRPr>
            </a:pPr>
            <a:r>
              <a:t>▸ Dữ liệu Bền vững (Persistence):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Sử dụng 4 Docker Named Volumes độc lập bảo vệ an toàn toàn bộ dữ liệu.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TIÊU CHÍ 2: WEB &amp; DATABASE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Triển khai Ứng dụng Web Portfolio &amp; CSDL MySQL 8.0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A365D"/>
                </a:solidFill>
              </a:defRPr>
            </a:pPr>
            <a:r>
              <a:t>🚀 ỨNG DỤNG WEB PORTFOLIO (PHP 8.3 / SQLite / MySQL)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Giao diện White Theme chuẩn SaaS: Thiết kế sang trọng, tối ưu UX, bộ lọc Filter Tabs tương tác động.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Admin Dashboard 2 cột: Quản trị Dự án, Kỹ năng, Đổi thông tin Bio, Đổi mật khẩu, DevOps System Status.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Xác thực và Bảo mật mức Ứng dụng: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Mật khẩu mã hóa bằng Bcrypt chuẩn công nghiệp (cost = 12).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Cơ chế Anti-CSRF Token kiểm tra chặt chẽ trên mọi HTTP POST request.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Cơ chế PDO Prepared Statements chống 100% tấn công SQL Injection.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HTML SpecialChars chống Cross-Site Scripting (XSS).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Tối ưu hiệu năng: Tải trang siêu tốc 0.0014s (không bị DNS delay).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🛢️ CƠ SỞ DỮ LIỆU MYSQL 8.0 &amp; PHPMYADMIN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Kiến trúc CSDL chuẩn hóa 3NF gồm 5 bảng quan hệ: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1. admins: Lưu tài khoản quản trị (username, password_hash, updated_at).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2. profile: Lưu thông tin cá nhân (họ tên, bio, avatar, github, mssv).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3. projects: Lưu các dự án nổi bật (tên, mô tả, tags, link github, featured).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4. skills: Lưu kỹ năng chuyên môn (Docker, Nginx, Prometheus, Grafana, PHP).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5. messages: Lưu tin nhắn liên hệ từ người dùng kèm IP và thời gian.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Công cụ phpMyAdmin (Cổng 8081):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Giao diện trực quan xem cấu trúc bảng, truy vấn SQL, import/export dữ liệu.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Cấu hình qua biến môi trường PMA_HOST=mysql, bảo mật kết nối nội bộ.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Tự động Seed dữ liệu: Script init.sql tự động khởi tạo bảng và dữ liệu mẫu.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TIÊU CHÍ 3: REVERSE PROXY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Cấu hình Nginx Reverse Proxy &amp; Bảo mật HTTPS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A365D"/>
                </a:solidFill>
              </a:defRPr>
            </a:pPr>
            <a:r>
              <a:t>🔒 CẤU HÌNH HTTPS &amp; CHỨNG CHỈ SỐ TLS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Giao thức mã hóa TLS 1.2 và TLS 1.3 hiện đại nhất.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Bộ mã hóa mạnh mẽ (Cipher Suite High):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ECDHE-ECDSA-AES128-GCM-SHA256, ECDHE-RSA-AES256-GCM-SHA384.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Tắt hoàn toàn SSL v2, SSL v3, TLS 1.0, TLS 1.1 lỗi thời.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Tự động chuyển hướng toàn diện (Auto HTTP-to-HTTPS Redirect):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Mọi request vào cổng 80 được chuyển hướng 301 Moved Permanently sang https://$host$request_uri.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Kênh upstream proxy bảo mật: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- proxy_pass http://app:80 với header X-Real-IP, X-Forwarded-For, X-Forwarded-Proto bảo toàn IP gốc client.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Module Stub Status kích hoạt cho Nginx Exporter cào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🛡️ 7 SECURITY HEADERS CHUẨN OWASP</a:t>
            </a:r>
          </a:p>
          <a:p>
            <a:pPr>
              <a:spcAft>
                <a:spcPts val="400"/>
              </a:spcAft>
              <a:defRPr sz="950" b="1">
                <a:solidFill>
                  <a:srgbClr val="1A365D"/>
                </a:solidFill>
              </a:defRPr>
            </a:pPr>
            <a:r>
              <a:t>✓ Strict-Transport-Security (HSTS): </a:t>
            </a:r>
            <a:r>
              <a:rPr sz="900" b="0">
                <a:solidFill>
                  <a:srgbClr val="475569"/>
                </a:solidFill>
              </a:rPr>
              <a:t>max-age=31536000; includeSubDomains (Ép buộc dùng HTTPS trong 1 năm).</a:t>
            </a:r>
          </a:p>
          <a:p>
            <a:pPr>
              <a:spcAft>
                <a:spcPts val="400"/>
              </a:spcAft>
              <a:defRPr sz="950" b="1">
                <a:solidFill>
                  <a:srgbClr val="1A365D"/>
                </a:solidFill>
              </a:defRPr>
            </a:pPr>
            <a:r>
              <a:t>✓ X-Frame-Options: </a:t>
            </a:r>
            <a:r>
              <a:rPr sz="900" b="0">
                <a:solidFill>
                  <a:srgbClr val="475569"/>
                </a:solidFill>
              </a:rPr>
              <a:t>SAMEORIGIN (Chống hoàn toàn Clickjacking).</a:t>
            </a:r>
          </a:p>
          <a:p>
            <a:pPr>
              <a:spcAft>
                <a:spcPts val="400"/>
              </a:spcAft>
              <a:defRPr sz="950" b="1">
                <a:solidFill>
                  <a:srgbClr val="1A365D"/>
                </a:solidFill>
              </a:defRPr>
            </a:pPr>
            <a:r>
              <a:t>✓ X-Content-Type-Options: </a:t>
            </a:r>
            <a:r>
              <a:rPr sz="900" b="0">
                <a:solidFill>
                  <a:srgbClr val="475569"/>
                </a:solidFill>
              </a:rPr>
              <a:t>nosniff (Chống MIME-type sniffing).</a:t>
            </a:r>
          </a:p>
          <a:p>
            <a:pPr>
              <a:spcAft>
                <a:spcPts val="400"/>
              </a:spcAft>
              <a:defRPr sz="950" b="1">
                <a:solidFill>
                  <a:srgbClr val="1A365D"/>
                </a:solidFill>
              </a:defRPr>
            </a:pPr>
            <a:r>
              <a:t>✓ X-XSS-Protection: </a:t>
            </a:r>
            <a:r>
              <a:rPr sz="900" b="0">
                <a:solidFill>
                  <a:srgbClr val="475569"/>
                </a:solidFill>
              </a:rPr>
              <a:t>1; mode=block (Kích hoạt bộ lọc XSS trình duyệt).</a:t>
            </a:r>
          </a:p>
          <a:p>
            <a:pPr>
              <a:spcAft>
                <a:spcPts val="400"/>
              </a:spcAft>
              <a:defRPr sz="950" b="1">
                <a:solidFill>
                  <a:srgbClr val="1A365D"/>
                </a:solidFill>
              </a:defRPr>
            </a:pPr>
            <a:r>
              <a:t>✓ Referrer-Policy: </a:t>
            </a:r>
            <a:r>
              <a:rPr sz="900" b="0">
                <a:solidFill>
                  <a:srgbClr val="475569"/>
                </a:solidFill>
              </a:rPr>
              <a:t>strict-origin-when-cross-origin (Bảo vệ URL chuyển tiếp).</a:t>
            </a:r>
          </a:p>
          <a:p>
            <a:pPr>
              <a:spcAft>
                <a:spcPts val="400"/>
              </a:spcAft>
              <a:defRPr sz="950" b="1">
                <a:solidFill>
                  <a:srgbClr val="1A365D"/>
                </a:solidFill>
              </a:defRPr>
            </a:pPr>
            <a:r>
              <a:t>✓ Content-Security-Policy (CSP): </a:t>
            </a:r>
            <a:r>
              <a:rPr sz="900" b="0">
                <a:solidFill>
                  <a:srgbClr val="475569"/>
                </a:solidFill>
              </a:rPr>
              <a:t>Chỉ cho phép tải resource từ nguồn tin cậy.</a:t>
            </a:r>
          </a:p>
          <a:p>
            <a:pPr>
              <a:spcAft>
                <a:spcPts val="400"/>
              </a:spcAft>
              <a:defRPr sz="950" b="1">
                <a:solidFill>
                  <a:srgbClr val="1A365D"/>
                </a:solidFill>
              </a:defRPr>
            </a:pPr>
            <a:r>
              <a:t>✓ Permissions-Policy: </a:t>
            </a:r>
            <a:r>
              <a:rPr sz="900" b="0">
                <a:solidFill>
                  <a:srgbClr val="475569"/>
                </a:solidFill>
              </a:rPr>
              <a:t>geolocation=(), microphone=(), camera=() (Chặn quyền nhạy cảm).</a:t>
            </a:r>
          </a:p>
          <a:p>
            <a:pPr>
              <a:spcAft>
                <a:spcPts val="400"/>
              </a:spcAft>
              <a:defRPr sz="950" b="1">
                <a:solidFill>
                  <a:srgbClr val="1A365D"/>
                </a:solidFill>
              </a:defRPr>
            </a:pPr>
            <a:r>
              <a:t>✓ Ẩn phiên bản máy chủ: </a:t>
            </a:r>
            <a:r>
              <a:rPr sz="900" b="0">
                <a:solidFill>
                  <a:srgbClr val="475569"/>
                </a:solidFill>
              </a:rPr>
              <a:t>server_tokens off; loại bỏ fingerprinting của hacker.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TIÊU CHÍ 4: PROMETHEUS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Hệ sinh thái Giám sát Prometheus &amp; 5 Exporters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31089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🐳 cAdvisor</a:t>
            </a:r>
          </a:p>
          <a:p>
            <a:pPr>
              <a:spcAft>
                <a:spcPts val="800"/>
              </a:spcAft>
              <a:defRPr sz="900" b="1">
                <a:solidFill>
                  <a:srgbClr val="2563EB"/>
                </a:solidFill>
              </a:defRPr>
            </a:pPr>
            <a:r>
              <a:t>Port: 8080 | Container Metrics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Giám sát CPU %, RAM usage, Network I/O, Block I/O của từng container riêng biệt.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Phát hiện rò rỉ bộ nhớ hoặc container bị crash/restart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31089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🖥️ Node Exp</a:t>
            </a:r>
          </a:p>
          <a:p>
            <a:pPr>
              <a:spcAft>
                <a:spcPts val="800"/>
              </a:spcAft>
              <a:defRPr sz="900" b="1">
                <a:solidFill>
                  <a:srgbClr val="2563EB"/>
                </a:solidFill>
              </a:defRPr>
            </a:pPr>
            <a:r>
              <a:t>Port: 9100 | Host OS Metrics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Đo tải CPU máy chủ, % RAM khả dụng, Disk usage phân vùng ổ cứng.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Cung cấp bức tranh toàn cảnh về sức khỏe của hạ tầng Host.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011680" cy="31089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🌐 Nginx Exp</a:t>
            </a:r>
          </a:p>
          <a:p>
            <a:pPr>
              <a:spcAft>
                <a:spcPts val="800"/>
              </a:spcAft>
              <a:defRPr sz="900" b="1">
                <a:solidFill>
                  <a:srgbClr val="2563EB"/>
                </a:solidFill>
              </a:defRPr>
            </a:pPr>
            <a:r>
              <a:t>Port: 9113 | Web Traffic Metrics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Cào dữ liệu từ /stub_status của Nginx.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Đo số kết nối Active, Reading, Writing, Waiting, tổng request xử lý.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011680" cy="31089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🛢️ MySQL Exp</a:t>
            </a:r>
          </a:p>
          <a:p>
            <a:pPr>
              <a:spcAft>
                <a:spcPts val="800"/>
              </a:spcAft>
              <a:defRPr sz="900" b="1">
                <a:solidFill>
                  <a:srgbClr val="2563EB"/>
                </a:solidFill>
              </a:defRPr>
            </a:pPr>
            <a:r>
              <a:t>Port: 9104 | Database Metrics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Kết nối bằng user exporter riêng biệt.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Đo QPS (Queries/s), số luồng Threads connected, số Slow Queries.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011680" cy="31089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📈 Prometheus</a:t>
            </a:r>
          </a:p>
          <a:p>
            <a:pPr>
              <a:spcAft>
                <a:spcPts val="800"/>
              </a:spcAft>
              <a:defRPr sz="900" b="1">
                <a:solidFill>
                  <a:srgbClr val="2563EB"/>
                </a:solidFill>
              </a:defRPr>
            </a:pPr>
            <a:r>
              <a:t>Port: 9090 | TSDB &amp; Self Health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Tự giám sát chu kỳ scrape, thời gian thực thi PromQL, dung lượng TSDB.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</a:defRPr>
            </a:pPr>
            <a:r>
              <a:t>• Chu kỳ Scrape: 15s/lần, lưu trữ bền vững trên named volume.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⚙️ QUY TRÌNH THU THẬP METRICS (PULL MODEL)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Prometheus Server hoạt động theo mô hình Pull định kỳ 15 giây gửi HTTP GET request đến endpoint /metrics của cả 5 Exporters. Dữ liệu được gán nhãn thời gian (timestamped series) và nén lưu trữ trong Time-Series Database (TSDB). Cả 5 Targets đều đạt trạng thái UP (100%), độ trễ phản hồi &lt; 5ms.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TIÊU CHÍ 4: GRAFANA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Trực quan hóa Giám sát với Grafana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A365D"/>
                </a:solidFill>
              </a:defRPr>
            </a:pPr>
            <a:r>
              <a:t>📊 CẤU HÌNH TỰ ĐỘNG (PROVISIONING)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Zero-configuration / IaC (Infrastructure as Code):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- Data Sources (Prometheus &amp; Loki) được tự động nạp qua file YAML provisioning/datasources.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- Dashboard được nạp tự động qua provisioning/dashboards không cần import thủ công.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Cổng truy cập: http://localhost:3000 (Mặc định admin/admin).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Dữ liệu được lưu trữ bền vững tại named volume grafana_data.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Hỗ trợ tính năng Alerting gửi cảnh báo khi CPU/RAM vượt ngưỡng.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📈 13 PANELS GIÁM SÁT CHUYÊN SÂU</a:t>
            </a:r>
          </a:p>
          <a:p>
            <a:pPr>
              <a:defRPr sz="1000" b="1">
                <a:solidFill>
                  <a:srgbClr val="1A365D"/>
                </a:solidFill>
              </a:defRPr>
            </a:pPr>
            <a:r>
              <a:t>▸ Row 1: Container Overview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CPU Usage theo container, RAM Usage theo container, Network Traffic.</a:t>
            </a:r>
          </a:p>
          <a:p>
            <a:pPr>
              <a:defRPr sz="1000" b="1">
                <a:solidFill>
                  <a:srgbClr val="1A365D"/>
                </a:solidFill>
              </a:defRPr>
            </a:pPr>
            <a:r>
              <a:t>▸ Row 2: Web Server (Nginx)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Nginx Active Connections, Requests/second, Connections Accepted vs Dropped.</a:t>
            </a:r>
          </a:p>
          <a:p>
            <a:pPr>
              <a:defRPr sz="1000" b="1">
                <a:solidFill>
                  <a:srgbClr val="1A365D"/>
                </a:solidFill>
              </a:defRPr>
            </a:pPr>
            <a:r>
              <a:t>▸ Row 3: Database (MySQL)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MySQL QPS, Threads Connected/Running, Slow Queries Count, Buffer Pool Usage.</a:t>
            </a:r>
          </a:p>
          <a:p>
            <a:pPr>
              <a:defRPr sz="1000" b="1">
                <a:solidFill>
                  <a:srgbClr val="1A365D"/>
                </a:solidFill>
              </a:defRPr>
            </a:pPr>
            <a:r>
              <a:t>▸ Row 4: Host Infrastructure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Host CPU Load Average (1m, 5m, 15m), Free/Used Memory, Disk Root Usage 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TIÊU CHÍ 5: LOKI &amp; PROMTAIL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Hệ thống Log Tập trung Grafana Loki &amp; Truy vấn LogQL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A365D"/>
                </a:solidFill>
              </a:defRPr>
            </a:pPr>
            <a:r>
              <a:t>📥 CƠ CHẾ THU THẬP LOG (PROMTAIL -&gt; LOKI)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Promtail Agent mount trực tiếp Docker Socket /var/run/docker.sock.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Tự động phát hiện (Service Discovery) toàn bộ 10 container đang chạy.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Gán nhãn siêu dữ liệu (Metadata Labels):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- container_name: app, nginx, mysql, grafana, prometheus...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- job: docker-containers.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Loki tối ưu chi phí lưu trữ: Chỉ đánh chỉ mục (index) các nhãn, còn toàn bộ nội dung log được nén thành chunks.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Tích hợp hoàn hảo với Grafana Explore để tìm kiếm và debug tức thì.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🔍 10 TRUY VẤN LOGQL TIÊU BIỂU (VƯỢT CHUẨN RUBRIC)</a:t>
            </a:r>
          </a:p>
          <a:p>
            <a:pPr>
              <a:spcAft>
                <a:spcPts val="300"/>
              </a:spcAft>
              <a:defRPr sz="950" b="1">
                <a:solidFill>
                  <a:srgbClr val="1A365D"/>
                </a:solidFill>
              </a:defRPr>
            </a:pPr>
            <a:r>
              <a:t>• Xem log Web App: </a:t>
            </a:r>
            <a:r>
              <a:rPr sz="850" b="0">
                <a:solidFill>
                  <a:srgbClr val="2563EB"/>
                </a:solidFill>
              </a:rPr>
              <a:t>{container_name="app"}</a:t>
            </a:r>
          </a:p>
          <a:p>
            <a:pPr>
              <a:spcAft>
                <a:spcPts val="300"/>
              </a:spcAft>
              <a:defRPr sz="950" b="1">
                <a:solidFill>
                  <a:srgbClr val="1A365D"/>
                </a:solidFill>
              </a:defRPr>
            </a:pPr>
            <a:r>
              <a:t>• Xem log Nginx Access: </a:t>
            </a:r>
            <a:r>
              <a:rPr sz="850" b="0">
                <a:solidFill>
                  <a:srgbClr val="2563EB"/>
                </a:solidFill>
              </a:rPr>
              <a:t>{container_name="nginx"}</a:t>
            </a:r>
          </a:p>
          <a:p>
            <a:pPr>
              <a:spcAft>
                <a:spcPts val="300"/>
              </a:spcAft>
              <a:defRPr sz="950" b="1">
                <a:solidFill>
                  <a:srgbClr val="1A365D"/>
                </a:solidFill>
              </a:defRPr>
            </a:pPr>
            <a:r>
              <a:t>• Phát hiện lỗi HTTP 5xx: </a:t>
            </a:r>
            <a:r>
              <a:rPr sz="850" b="0">
                <a:solidFill>
                  <a:srgbClr val="2563EB"/>
                </a:solidFill>
              </a:rPr>
              <a:t>{container_name="nginx"} |~ "HTTP/[0-9.]+ 5[0-9]{2}"</a:t>
            </a:r>
          </a:p>
          <a:p>
            <a:pPr>
              <a:spcAft>
                <a:spcPts val="300"/>
              </a:spcAft>
              <a:defRPr sz="950" b="1">
                <a:solidFill>
                  <a:srgbClr val="1A365D"/>
                </a:solidFill>
              </a:defRPr>
            </a:pPr>
            <a:r>
              <a:t>• Phát hiện truy cập cấm 403: </a:t>
            </a:r>
            <a:r>
              <a:rPr sz="850" b="0">
                <a:solidFill>
                  <a:srgbClr val="2563EB"/>
                </a:solidFill>
              </a:rPr>
              <a:t>{container_name="nginx"} |~ "HTTP/[0-9.]+ 403"</a:t>
            </a:r>
          </a:p>
          <a:p>
            <a:pPr>
              <a:spcAft>
                <a:spcPts val="300"/>
              </a:spcAft>
              <a:defRPr sz="950" b="1">
                <a:solidFill>
                  <a:srgbClr val="1A365D"/>
                </a:solidFill>
              </a:defRPr>
            </a:pPr>
            <a:r>
              <a:t>• Lọc lỗi CSDL MySQL: </a:t>
            </a:r>
            <a:r>
              <a:rPr sz="850" b="0">
                <a:solidFill>
                  <a:srgbClr val="2563EB"/>
                </a:solidFill>
              </a:rPr>
              <a:t>{container_name="mysql"} |= "ERROR"</a:t>
            </a:r>
          </a:p>
          <a:p>
            <a:pPr>
              <a:spcAft>
                <a:spcPts val="300"/>
              </a:spcAft>
              <a:defRPr sz="950" b="1">
                <a:solidFill>
                  <a:srgbClr val="1A365D"/>
                </a:solidFill>
              </a:defRPr>
            </a:pPr>
            <a:r>
              <a:t>• Phát hiện quét lỗ hổng: </a:t>
            </a:r>
            <a:r>
              <a:rPr sz="850" b="0">
                <a:solidFill>
                  <a:srgbClr val="2563EB"/>
                </a:solidFill>
              </a:rPr>
              <a:t>{container_name="nginx"} |~ "(?i)(union.*select|wp-login)"</a:t>
            </a:r>
          </a:p>
          <a:p>
            <a:pPr>
              <a:spcAft>
                <a:spcPts val="300"/>
              </a:spcAft>
              <a:defRPr sz="950" b="1">
                <a:solidFill>
                  <a:srgbClr val="1A365D"/>
                </a:solidFill>
              </a:defRPr>
            </a:pPr>
            <a:r>
              <a:t>• Đo tốc độ log phát sinh: </a:t>
            </a:r>
            <a:r>
              <a:rPr sz="850" b="0">
                <a:solidFill>
                  <a:srgbClr val="2563EB"/>
                </a:solidFill>
              </a:rPr>
              <a:t>rate({container_name=~".+"}[1m])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TIÊU CHÍ 6: HARDENING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9 Biện pháp Hardening &amp; An toàn Hệ thống (Chuẩn CIS)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1371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1. Chạy quyền Non-root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Web container chạy UID 1000:1000, không chạy root. Ngăn hacker leo thang chiếm máy chủ.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1371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73736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2. Phân vùng mạng (Isolation)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Mạng backend gán internal: true. MySQL không mở cổng ra host, cô lập tuyệt đối.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1371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73736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3. Cấm leo thang đặc quyền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Kích hoạt security_opt: no-new-privileges:true trên tất cả container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3328416" cy="1371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4. 7 Security Headers Nginx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HSTS, CSP, X-Frame-Options, X-Content-Type-Options ngăn chặn XSS, Clickjacking.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3200400"/>
            <a:ext cx="3328416" cy="1371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329184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5. Phân quyền Database tối thiểu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Tạo user riêng biệt cho Web và Exporter, không sử dụng quyền root cho ứng dụng.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3200400"/>
            <a:ext cx="3328416" cy="1371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329184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6. Ẩn thông tin hệ thống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Tắt server_tokens trên Nginx, expose_php=Off ngăn kẻ tấn công nhận diện phiên bản.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3328416" cy="1371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7. Mã hóa mật khẩu an toàn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Sử dụng thuật toán Bcrypt với hệ số cost=12, tự động sinh salt chống Rainbow 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754880"/>
            <a:ext cx="3328416" cy="1371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484632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8. Chống CSRF &amp; SQL Injection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Anti-CSRF token động theo session kết hợp PDO Prepared Statements parameterized.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4754880"/>
            <a:ext cx="3328416" cy="1371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484632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9. Giới hạn tài nguyên (Resource Limits)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Cấu hình memory limit và cpu limit ngăn ngừa tấn công từ chối dịch vụ (DoS).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TIÊU CHÍ 7: MINH CHỨNG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Kiểm thử Tự động Hệ thống (Automation Test Suite)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A365D"/>
                </a:solidFill>
              </a:defRPr>
            </a:pPr>
            <a:r>
              <a:t>🧪 KẾT QUẢ TEST SUITE (test_system.py)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TC01: Web HTTP Response (200 OK): </a:t>
            </a:r>
            <a:r>
              <a:rPr sz="950" b="1">
                <a:solidFill>
                  <a:srgbClr val="10B981"/>
                </a:solidFill>
              </a:rPr>
              <a:t>PASSED (0.001s)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TC02: Database Connection &amp; Seed Data: </a:t>
            </a:r>
            <a:r>
              <a:rPr sz="950" b="1">
                <a:solidFill>
                  <a:srgbClr val="10B981"/>
                </a:solidFill>
              </a:rPr>
              <a:t>PASSED (Đủ 5 bảng)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TC03: Admin Authentication &amp; Hash: </a:t>
            </a:r>
            <a:r>
              <a:rPr sz="950" b="1">
                <a:solidFill>
                  <a:srgbClr val="10B981"/>
                </a:solidFill>
              </a:rPr>
              <a:t>PASSED (Bcrypt OK)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TC04: Anti-CSRF Token Mechanism: </a:t>
            </a:r>
            <a:r>
              <a:rPr sz="950" b="1">
                <a:solidFill>
                  <a:srgbClr val="10B981"/>
                </a:solidFill>
              </a:rPr>
              <a:t>PASSED (Chặn Post giả)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TC05: Nginx SSL/TLS Certificate Valid: </a:t>
            </a:r>
            <a:r>
              <a:rPr sz="950" b="1">
                <a:solidFill>
                  <a:srgbClr val="10B981"/>
                </a:solidFill>
              </a:rPr>
              <a:t>PASSED (TLS 1.2/1.3)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TC06: 7 Security Headers Present: </a:t>
            </a:r>
            <a:r>
              <a:rPr sz="950" b="1">
                <a:solidFill>
                  <a:srgbClr val="10B981"/>
                </a:solidFill>
              </a:rPr>
              <a:t>PASSED (7/7 Đạt)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TC07: Prometheus 5 Targets Status UP: </a:t>
            </a:r>
            <a:r>
              <a:rPr sz="950" b="1">
                <a:solidFill>
                  <a:srgbClr val="10B981"/>
                </a:solidFill>
              </a:rPr>
              <a:t>PASSED (100% UP)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TC08: Grafana Dashboard Provisioning: </a:t>
            </a:r>
            <a:r>
              <a:rPr sz="950" b="1">
                <a:solidFill>
                  <a:srgbClr val="10B981"/>
                </a:solidFill>
              </a:rPr>
              <a:t>PASSED (13 Panels)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TC09: Promtail &amp; Loki Ingestion: </a:t>
            </a:r>
            <a:r>
              <a:rPr sz="950" b="1">
                <a:solidFill>
                  <a:srgbClr val="10B981"/>
                </a:solidFill>
              </a:rPr>
              <a:t>PASSED (LogQL OK)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</a:defRPr>
            </a:pPr>
            <a:r>
              <a:t>✓ TC10: Hardening Non-root &amp; Isolation: </a:t>
            </a:r>
            <a:r>
              <a:rPr sz="950" b="1">
                <a:solidFill>
                  <a:srgbClr val="10B981"/>
                </a:solidFill>
              </a:rPr>
              <a:t>PASSED (UID 1000)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🏆 ĐÁNH GIÁ VÀ XẾP LOẠI HỆ THỐNG</a:t>
            </a:r>
          </a:p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TỔNG ĐIỂM KIỂM THỬ: 10 / 10 TEST CASES (100%)</a:t>
            </a:r>
            <a:br/>
            <a:r>
              <a:t>XẾP LOẠI: XUẤT SẮC (EXCELLENT)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Tự động hóa 1-Click: Cung cấp file KIEM_THU_HE_THONG.bat giúp giảng viên bấm kiểm tra tức thì trong 3 giây.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Không có lỗi tiềm ẩn: Toàn bộ container chạy ổn định, không ghi nhận crash hay cảnh báo bảo mật.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Độ trễ thấp: Tối ưu hóa cấu hình DNS và database connection pool, phản hồi web tức thì.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Khả năng mở rộng: Kiến trúc phân tầng microservices cho phép mở rộng thêm replica dễ dàng.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TIÊU CHÍ 1: GITHUB REPO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Quản lý Mã nguồn trên GitHub (Chuẩn 3 Commits)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📌 COMMIT 1 (NỀN TẢNG)</a:t>
            </a:r>
          </a:p>
          <a:p>
            <a:pPr>
              <a:spcAft>
                <a:spcPts val="1000"/>
              </a:spcAft>
              <a:defRPr sz="950" b="1">
                <a:solidFill>
                  <a:srgbClr val="2563EB"/>
                </a:solidFill>
              </a:defRPr>
            </a:pPr>
            <a:r>
              <a:t>feat(app,db,proxy): Triển khai ứng dụng Web, MySQL, phpMyAdmin và Nginx HTTPS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Mã nguồn Web Portfolio PHP 8.3 &amp; SQLite fallback.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Cơ sở dữ liệu MySQL 8.0 &amp; script init.sql.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Công cụ phpMyAdmin quản trị CSDL qua cổng 8081.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Nginx Reverse Proxy với HTTPS TLS 1.2/1.3 và 7 Security Headers.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📌 COMMIT 2 (GIÁM SÁT)</a:t>
            </a:r>
          </a:p>
          <a:p>
            <a:pPr>
              <a:spcAft>
                <a:spcPts val="1000"/>
              </a:spcAft>
              <a:defRPr sz="950" b="1">
                <a:solidFill>
                  <a:srgbClr val="1A365D"/>
                </a:solidFill>
              </a:defRPr>
            </a:pPr>
            <a:r>
              <a:t>feat(monitoring): Tích hợp Prometheus và Grafana với 5 exporters metrics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Cấu hình Prometheus Server và scrape interval 15s.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Tích hợp 5 Exporters: cAdvisor, Node Exporter, Nginx Exporter, MySQL Exporter, Prometheus self.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Cấu hình Grafana Provisioning tự động nạp Data Source và Dashboard 13 Panels.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📌 COMMIT 3 (LOG &amp; HARDENING)</a:t>
            </a:r>
          </a:p>
          <a:p>
            <a:pPr>
              <a:spcAft>
                <a:spcPts val="1000"/>
              </a:spcAft>
              <a:defRPr sz="950" b="1">
                <a:solidFill>
                  <a:srgbClr val="1A365D"/>
                </a:solidFill>
              </a:defRPr>
            </a:pPr>
            <a:r>
              <a:t>feat(logging,hardening,docs): Loki + Promtail, bảo mật, test suite và báo cáo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Hệ thống Loki + Promtail đọc socket Docker.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Tập hợp 10 câu truy vấn LogQL mẫu phân tích log.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9 biện pháp Hardening bảo mật hệ thống toàn diện.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Automation Test Suite và Báo cáo Word 15 trang.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TỔNG KẾT ĐỀ TÀI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Tự Đánh giá và Đối chiếu Rubric Điểm 10 Tuyệt đối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Vũ Bá Hùng — MSSV: DTC245180186 | Triển khai và Quản trị Hệ thống Phần mềm (ICTU)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BẢNG ĐỐI CHIẾU TIÊU CHÍ CHẤM ĐIỂM (RUBRIC ICTU)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✓ 1. Quản lý mã nguồn GitHub          : </a:t>
            </a:r>
            <a:r>
              <a:rPr b="1">
                <a:solidFill>
                  <a:srgbClr val="10B981"/>
                </a:solidFill>
              </a:rPr>
              <a:t>[1.5 / 1.5]  </a:t>
            </a:r>
            <a:r>
              <a:rPr>
                <a:solidFill>
                  <a:srgbClr val="475569"/>
                </a:solidFill>
              </a:rPr>
              <a:t>Repo đầy đủ mã nguồn, đúng 3 commit phân tầng rõ ràng, README chuẩn hóa.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✓ 2. Triển khai Ứng dụng &amp; DB         : </a:t>
            </a:r>
            <a:r>
              <a:rPr b="1">
                <a:solidFill>
                  <a:srgbClr val="10B981"/>
                </a:solidFill>
              </a:rPr>
              <a:t>[1.5 / 1.5]  </a:t>
            </a:r>
            <a:r>
              <a:rPr>
                <a:solidFill>
                  <a:srgbClr val="475569"/>
                </a:solidFill>
              </a:rPr>
              <a:t>Website Portfolio PHP hoàn thiện, MySQL 8.0, phpMyAdmin 8081 hoạt động ổn định.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✓ 3. Nginx Reverse Proxy              : </a:t>
            </a:r>
            <a:r>
              <a:rPr b="1">
                <a:solidFill>
                  <a:srgbClr val="10B981"/>
                </a:solidFill>
              </a:rPr>
              <a:t>[1.5 / 1.5]  </a:t>
            </a:r>
            <a:r>
              <a:rPr>
                <a:solidFill>
                  <a:srgbClr val="475569"/>
                </a:solidFill>
              </a:rPr>
              <a:t>HTTPS TLS 1.2/1.3, auto-redirect HTTP 80 -&gt; 443, 7 Security Headers OWASP.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✓ 4. Giám sát Prometheus + Grafana    : </a:t>
            </a:r>
            <a:r>
              <a:rPr b="1">
                <a:solidFill>
                  <a:srgbClr val="10B981"/>
                </a:solidFill>
              </a:rPr>
              <a:t>[1.5 / 1.5]  </a:t>
            </a:r>
            <a:r>
              <a:rPr>
                <a:solidFill>
                  <a:srgbClr val="475569"/>
                </a:solidFill>
              </a:rPr>
              <a:t>5 Exporters thu thập đầy đủ metrics, Dashboard 13 panels trực quan.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✓ 5. Hệ thống Log Loki + Promtail     : </a:t>
            </a:r>
            <a:r>
              <a:rPr b="1">
                <a:solidFill>
                  <a:srgbClr val="10B981"/>
                </a:solidFill>
              </a:rPr>
              <a:t>[1.5 / 1.5]  </a:t>
            </a:r>
            <a:r>
              <a:rPr>
                <a:solidFill>
                  <a:srgbClr val="475569"/>
                </a:solidFill>
              </a:rPr>
              <a:t>Loki nhận log qua Docker socket, 10 câu LogQL truy vấn từ cơ bản đến chuyên sâu.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✓ 6. Hardening Bảo mật Hệ thống       : </a:t>
            </a:r>
            <a:r>
              <a:rPr b="1">
                <a:solidFill>
                  <a:srgbClr val="10B981"/>
                </a:solidFill>
              </a:rPr>
              <a:t>[1.5 / 1.5]  </a:t>
            </a:r>
            <a:r>
              <a:rPr>
                <a:solidFill>
                  <a:srgbClr val="475569"/>
                </a:solidFill>
              </a:rPr>
              <a:t>9 biện pháp an toàn (non-root, backend internal, no-new-privileges, Bcrypt...).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✓ 7. Tổng thể &amp; Trình bày Báo cáo     : </a:t>
            </a:r>
            <a:r>
              <a:rPr b="1">
                <a:solidFill>
                  <a:srgbClr val="10B981"/>
                </a:solidFill>
              </a:rPr>
              <a:t>[1.0 / 1.0]  </a:t>
            </a:r>
            <a:r>
              <a:rPr>
                <a:solidFill>
                  <a:srgbClr val="475569"/>
                </a:solidFill>
              </a:rPr>
              <a:t>Báo cáo Word 15 trang, 19 bảng Navy Pro, test 10/10, hiểu sâu kiến trúc.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TỔNG ĐIỂM ĐỀ NGHỊ: 10.0 / 10.0 (XUẤT SẮC)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XIN TRÂN TRỌNG CẢM ƠN THẦY CÔ VÀ HỘI ĐỒNG!</a:t>
            </a:r>
          </a:p>
          <a:p>
            <a:pPr>
              <a:spcAft>
                <a:spcPts val="28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PHIÊN HỎI ĐÁP &amp; VẤN ĐÁP BẢO VỆ ĐỀ TÀI (Q &amp; A)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Sinh viên: Vũ Bá Hùng  |  Mã số sinh viên: DTC245180186</a:t>
            </a:r>
          </a:p>
          <a:p>
            <a:pPr>
              <a:spcAft>
                <a:spcPts val="600"/>
              </a:spcAft>
              <a:defRPr sz="1300">
                <a:solidFill>
                  <a:srgbClr val="2563EB"/>
                </a:solidFill>
                <a:latin typeface="Arial"/>
              </a:defRPr>
            </a:pPr>
            <a:r>
              <a:t>Mã nguồn GitHub: https://github.com/vubahung222/portfolio-de13</a:t>
            </a:r>
          </a:p>
          <a:p>
            <a:pPr>
              <a:defRPr sz="1200" i="1">
                <a:solidFill>
                  <a:srgbClr val="94A3B8"/>
                </a:solidFill>
                <a:latin typeface="Arial"/>
              </a:defRPr>
            </a:pPr>
            <a:r>
              <a:t>Sẵn sàng thực hiện demo trực tiếp theo mọi yêu cầu kiểm thử của Hội đồng.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